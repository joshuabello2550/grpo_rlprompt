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08da72d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08da72d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d08da72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d08da72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d08da72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d08da72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d08da72d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d08da72d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prevent reward hacking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d08da72d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d08da72d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Soft Q learning comes from maximum-</a:t>
            </a:r>
            <a:r>
              <a:rPr lang="en"/>
              <a:t>entropy</a:t>
            </a:r>
            <a:r>
              <a:rPr lang="en"/>
              <a:t> RL </a:t>
            </a:r>
            <a:r>
              <a:rPr lang="en"/>
              <a:t>which</a:t>
            </a:r>
            <a:r>
              <a:rPr lang="en"/>
              <a:t> aims not only to maximize reward, but also the randomness of the policy.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V(z) is the maximum-entropy value of state z, defined as a temperature-scaled log-sum-exp over all action-values, representing the optimal expected future reward plus an entropy bonus.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d08da72d1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d08da72d1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d08da72d1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d08da72d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d08da72d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d08da72d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GRPO seems to improve the policy alot more noisely than soft q learning. In the equation for GRPO the </a:t>
            </a:r>
            <a:r>
              <a:rPr lang="en"/>
              <a:t>advantage</a:t>
            </a:r>
            <a:r>
              <a:rPr lang="en"/>
              <a:t> is signed </a:t>
            </a:r>
            <a:r>
              <a:rPr lang="en"/>
              <a:t>depending</a:t>
            </a:r>
            <a:r>
              <a:rPr lang="en"/>
              <a:t> on whether a reward is better than on average. This menas gradients are signed </a:t>
            </a:r>
            <a:r>
              <a:rPr lang="en"/>
              <a:t>which</a:t>
            </a:r>
            <a:r>
              <a:rPr lang="en"/>
              <a:t> leads to more noising updates of the models </a:t>
            </a:r>
            <a:r>
              <a:rPr lang="en"/>
              <a:t>parameters</a:t>
            </a:r>
            <a:r>
              <a:rPr lang="en"/>
              <a:t> compared to soft Q </a:t>
            </a:r>
            <a:r>
              <a:rPr lang="en"/>
              <a:t>learning</a:t>
            </a:r>
            <a:r>
              <a:rPr lang="en"/>
              <a:t> where the </a:t>
            </a:r>
            <a:r>
              <a:rPr lang="en"/>
              <a:t>gradient</a:t>
            </a:r>
            <a:r>
              <a:rPr lang="en"/>
              <a:t> is always </a:t>
            </a:r>
            <a:r>
              <a:rPr lang="en"/>
              <a:t>positive</a:t>
            </a:r>
            <a:r>
              <a:rPr lang="en"/>
              <a:t>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∇θ​LGRPO​=−Ek​​s[(rk​−rˉ)​​∇θ​logπθ​(yk​)​]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∇θ​LSoftQ​=−Ey[exp(βr(y))​​∇θ​logπθ​(y)​]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GRPO is a Monte Carlo method </a:t>
            </a:r>
            <a:r>
              <a:rPr lang="en"/>
              <a:t>which is a higher variance estimator than TD methods which Soft Q learning falls under the category of.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 is also only over 1/10th the number of steps so the model could still </a:t>
            </a:r>
            <a:r>
              <a:rPr lang="en"/>
              <a:t>have</a:t>
            </a:r>
            <a:r>
              <a:rPr lang="en"/>
              <a:t> time to be timprove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d08da72d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d08da72d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Similar</a:t>
            </a:r>
            <a:r>
              <a:rPr lang="en"/>
              <a:t> trend of </a:t>
            </a:r>
            <a:r>
              <a:rPr lang="en"/>
              <a:t>higher</a:t>
            </a:r>
            <a:r>
              <a:rPr lang="en"/>
              <a:t> variance results in Soft Q than GRPO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d08da72d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d08da72d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Slight</a:t>
            </a:r>
            <a:r>
              <a:rPr lang="en"/>
              <a:t> improvement over the baseline for the boolq dataset. </a:t>
            </a:r>
            <a:r>
              <a:rPr lang="en"/>
              <a:t>Interestingly</a:t>
            </a:r>
            <a:r>
              <a:rPr lang="en"/>
              <a:t> </a:t>
            </a:r>
            <a:r>
              <a:rPr lang="en"/>
              <a:t>enough</a:t>
            </a:r>
            <a:r>
              <a:rPr lang="en"/>
              <a:t> it seems like there is not </a:t>
            </a:r>
            <a:r>
              <a:rPr lang="en"/>
              <a:t>substantial</a:t>
            </a:r>
            <a:r>
              <a:rPr lang="en"/>
              <a:t> </a:t>
            </a:r>
            <a:r>
              <a:rPr lang="en"/>
              <a:t>difference between</a:t>
            </a:r>
            <a:r>
              <a:rPr lang="en"/>
              <a:t> softq, grpo, for ll and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</a:t>
            </a:r>
            <a:r>
              <a:rPr lang="en"/>
              <a:t>sitillbert on gsm8k typically gets around 0%, grpo  seemed to substrionally drop perofrmance whereas soft kept or slightly dropped.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Part of this may be a result of the fact that small models suhc as dsitillbert-2 already show teh ability to do classification so there exitist promtps that cna improve it, whereas </a:t>
            </a:r>
            <a:r>
              <a:rPr lang="en"/>
              <a:t>reasoning</a:t>
            </a:r>
            <a:r>
              <a:rPr lang="en"/>
              <a:t> is much harder to encode </a:t>
            </a:r>
            <a:r>
              <a:rPr lang="en"/>
              <a:t>especially</a:t>
            </a:r>
            <a:r>
              <a:rPr lang="en"/>
              <a:t> for smaller model so it needs more time to better refine prompts or it may not even be possible.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 would be </a:t>
            </a:r>
            <a:r>
              <a:rPr lang="en"/>
              <a:t>interesting</a:t>
            </a:r>
            <a:r>
              <a:rPr lang="en"/>
              <a:t> to see there techniques applied to larger model LAMMA models and evalue them on the gsm8k dataset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d08da72d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d08da72d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d08da72d1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d08da72d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rxiv.org/abs/2005.14165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 for Prompt Optimization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Joshua Bello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Prompts are important the paper (</a:t>
            </a:r>
            <a:r>
              <a:rPr lang="en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Language Models are Few-Shot Learners</a:t>
            </a:r>
            <a:r>
              <a:rPr lang="en" sz="1400">
                <a:solidFill>
                  <a:schemeClr val="dk1"/>
                </a:solidFill>
              </a:rPr>
              <a:t>) showed that very large LLMS can perform a wide range of </a:t>
            </a:r>
            <a:r>
              <a:rPr lang="en" sz="1400">
                <a:solidFill>
                  <a:schemeClr val="dk1"/>
                </a:solidFill>
              </a:rPr>
              <a:t>tasks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with</a:t>
            </a:r>
            <a:r>
              <a:rPr lang="en" sz="1400">
                <a:solidFill>
                  <a:schemeClr val="dk1"/>
                </a:solidFill>
              </a:rPr>
              <a:t> just a few shot promptings and examples rather than fine tuning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Question:</a:t>
            </a:r>
            <a:r>
              <a:rPr lang="en" sz="1400">
                <a:solidFill>
                  <a:schemeClr val="dk1"/>
                </a:solidFill>
              </a:rPr>
              <a:t> How to </a:t>
            </a:r>
            <a:r>
              <a:rPr lang="en" sz="1400">
                <a:solidFill>
                  <a:schemeClr val="dk1"/>
                </a:solidFill>
              </a:rPr>
              <a:t>systematically</a:t>
            </a:r>
            <a:r>
              <a:rPr lang="en" sz="1400">
                <a:solidFill>
                  <a:schemeClr val="dk1"/>
                </a:solidFill>
              </a:rPr>
              <a:t> create good prompts for a </a:t>
            </a:r>
            <a:r>
              <a:rPr lang="en" sz="1400">
                <a:solidFill>
                  <a:schemeClr val="dk1"/>
                </a:solidFill>
              </a:rPr>
              <a:t>downstream</a:t>
            </a:r>
            <a:r>
              <a:rPr lang="en" sz="1400">
                <a:solidFill>
                  <a:schemeClr val="dk1"/>
                </a:solidFill>
              </a:rPr>
              <a:t> task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Optimization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Discrete</a:t>
            </a:r>
            <a:r>
              <a:rPr b="1" lang="en" sz="1400">
                <a:solidFill>
                  <a:schemeClr val="dk1"/>
                </a:solidFill>
              </a:rPr>
              <a:t> Prompt </a:t>
            </a:r>
            <a:r>
              <a:rPr b="1" lang="en" sz="1400">
                <a:solidFill>
                  <a:schemeClr val="dk1"/>
                </a:solidFill>
              </a:rPr>
              <a:t>Optimization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Goal: O</a:t>
            </a:r>
            <a:r>
              <a:rPr lang="en" sz="1400">
                <a:solidFill>
                  <a:schemeClr val="dk1"/>
                </a:solidFill>
              </a:rPr>
              <a:t>ptimize</a:t>
            </a:r>
            <a:r>
              <a:rPr lang="en" sz="1400">
                <a:solidFill>
                  <a:schemeClr val="dk1"/>
                </a:solidFill>
              </a:rPr>
              <a:t> actual tokens prepended to the prompt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Interpretable</a:t>
            </a:r>
            <a:r>
              <a:rPr lang="en" sz="1400">
                <a:solidFill>
                  <a:schemeClr val="dk1"/>
                </a:solidFill>
              </a:rPr>
              <a:t>, actual tokens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Because</a:t>
            </a:r>
            <a:r>
              <a:rPr lang="en" sz="1400">
                <a:solidFill>
                  <a:schemeClr val="dk1"/>
                </a:solidFill>
              </a:rPr>
              <a:t> tokens are discrete you cannot backprop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Often created by “enumeration (e.g., paraphrasing)-then-selection” heuristics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</a:rPr>
              <a:t>Soft Prompt </a:t>
            </a:r>
            <a:r>
              <a:rPr b="1" lang="en" sz="1400">
                <a:solidFill>
                  <a:schemeClr val="dk1"/>
                </a:solidFill>
              </a:rPr>
              <a:t>Optimization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Goal: Optimize </a:t>
            </a:r>
            <a:r>
              <a:rPr lang="en" sz="1400">
                <a:solidFill>
                  <a:schemeClr val="dk1"/>
                </a:solidFill>
              </a:rPr>
              <a:t>continuous</a:t>
            </a:r>
            <a:r>
              <a:rPr lang="en" sz="1400">
                <a:solidFill>
                  <a:schemeClr val="dk1"/>
                </a:solidFill>
              </a:rPr>
              <a:t> vector prepended to </a:t>
            </a:r>
            <a:r>
              <a:rPr lang="en" sz="1400">
                <a:solidFill>
                  <a:schemeClr val="dk1"/>
                </a:solidFill>
              </a:rPr>
              <a:t>the the prompt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Not </a:t>
            </a:r>
            <a:r>
              <a:rPr lang="en" sz="1400">
                <a:solidFill>
                  <a:schemeClr val="dk1"/>
                </a:solidFill>
              </a:rPr>
              <a:t>interpretable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Can directly be trained via backprop </a:t>
            </a:r>
            <a:r>
              <a:rPr lang="en" sz="1400">
                <a:solidFill>
                  <a:schemeClr val="dk1"/>
                </a:solidFill>
              </a:rPr>
              <a:t>because</a:t>
            </a:r>
            <a:r>
              <a:rPr lang="en" sz="14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</a:rPr>
              <a:t>continuous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Non </a:t>
            </a:r>
            <a:r>
              <a:rPr lang="en" sz="1400">
                <a:solidFill>
                  <a:schemeClr val="dk1"/>
                </a:solidFill>
              </a:rPr>
              <a:t>transferable</a:t>
            </a:r>
            <a:r>
              <a:rPr lang="en" sz="1400">
                <a:solidFill>
                  <a:schemeClr val="dk1"/>
                </a:solidFill>
              </a:rPr>
              <a:t> across </a:t>
            </a:r>
            <a:r>
              <a:rPr lang="en" sz="1400">
                <a:solidFill>
                  <a:schemeClr val="dk1"/>
                </a:solidFill>
              </a:rPr>
              <a:t>LLMs</a:t>
            </a:r>
            <a:endParaRPr sz="1400">
              <a:solidFill>
                <a:schemeClr val="dk1"/>
              </a:solidFill>
            </a:endParaRPr>
          </a:p>
        </p:txBody>
      </p:sp>
      <p:grpSp>
        <p:nvGrpSpPr>
          <p:cNvPr id="68" name="Google Shape;68;p15"/>
          <p:cNvGrpSpPr/>
          <p:nvPr/>
        </p:nvGrpSpPr>
        <p:grpSpPr>
          <a:xfrm>
            <a:off x="5287200" y="2752125"/>
            <a:ext cx="3545100" cy="335100"/>
            <a:chOff x="1247875" y="1664050"/>
            <a:chExt cx="3545100" cy="335100"/>
          </a:xfrm>
        </p:grpSpPr>
        <p:sp>
          <p:nvSpPr>
            <p:cNvPr id="69" name="Google Shape;69;p15"/>
            <p:cNvSpPr txBox="1"/>
            <p:nvPr/>
          </p:nvSpPr>
          <p:spPr>
            <a:xfrm>
              <a:off x="1247875" y="1664050"/>
              <a:ext cx="1181700" cy="3351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Embedding 1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2429575" y="1664050"/>
              <a:ext cx="1181700" cy="3351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Embedding 2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3611275" y="1664050"/>
              <a:ext cx="1181700" cy="335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Prompt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grpSp>
        <p:nvGrpSpPr>
          <p:cNvPr id="72" name="Google Shape;72;p15"/>
          <p:cNvGrpSpPr/>
          <p:nvPr/>
        </p:nvGrpSpPr>
        <p:grpSpPr>
          <a:xfrm>
            <a:off x="5886475" y="1152475"/>
            <a:ext cx="2945825" cy="335100"/>
            <a:chOff x="1562800" y="638525"/>
            <a:chExt cx="2945825" cy="335100"/>
          </a:xfrm>
        </p:grpSpPr>
        <p:sp>
          <p:nvSpPr>
            <p:cNvPr id="73" name="Google Shape;73;p15"/>
            <p:cNvSpPr txBox="1"/>
            <p:nvPr/>
          </p:nvSpPr>
          <p:spPr>
            <a:xfrm>
              <a:off x="1562800" y="638525"/>
              <a:ext cx="828900" cy="3351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Token 1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74" name="Google Shape;74;p15"/>
            <p:cNvSpPr txBox="1"/>
            <p:nvPr/>
          </p:nvSpPr>
          <p:spPr>
            <a:xfrm>
              <a:off x="2391825" y="638525"/>
              <a:ext cx="1058400" cy="3351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Token 2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3450225" y="638525"/>
              <a:ext cx="1058400" cy="335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Prompt</a:t>
              </a:r>
              <a:endParaRPr sz="12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RLPrompt</a:t>
            </a:r>
            <a:r>
              <a:rPr lang="en"/>
              <a:t> </a:t>
            </a:r>
            <a:r>
              <a:rPr lang="en"/>
              <a:t>(Discrete Prompt Optimization)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18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Framed prompt generation as an RL problem (classification datasets),</a:t>
            </a:r>
            <a:endParaRPr sz="14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lang="en">
                <a:solidFill>
                  <a:schemeClr val="dk1"/>
                </a:solidFill>
              </a:rPr>
              <a:t>State:</a:t>
            </a:r>
            <a:r>
              <a:rPr lang="en">
                <a:solidFill>
                  <a:schemeClr val="dk1"/>
                </a:solidFill>
              </a:rPr>
              <a:t> The partial prompt generated so far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Action</a:t>
            </a:r>
            <a:r>
              <a:rPr lang="en">
                <a:solidFill>
                  <a:schemeClr val="dk1"/>
                </a:solidFill>
              </a:rPr>
              <a:t>: Selecting the next prompt token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Policy:</a:t>
            </a:r>
            <a:r>
              <a:rPr lang="en">
                <a:solidFill>
                  <a:schemeClr val="dk1"/>
                </a:solidFill>
              </a:rPr>
              <a:t> A trainable MLP that maps LM hidden states → token logits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Environment:</a:t>
            </a:r>
            <a:r>
              <a:rPr lang="en">
                <a:solidFill>
                  <a:schemeClr val="dk1"/>
                </a:solidFill>
              </a:rPr>
              <a:t> A frozen LLM (DistilGPT-2)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Reward:</a:t>
            </a:r>
            <a:r>
              <a:rPr lang="en">
                <a:solidFill>
                  <a:schemeClr val="dk1"/>
                </a:solidFill>
              </a:rPr>
              <a:t> A gap reward computed by a separate LLM (DistilRoBERTa-base) evaluating the final prompt on the classification task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Generating a prompt</a:t>
            </a:r>
            <a:endParaRPr sz="1400">
              <a:solidFill>
                <a:schemeClr val="dk1"/>
              </a:solidFill>
            </a:endParaRPr>
          </a:p>
        </p:txBody>
      </p:sp>
      <p:grpSp>
        <p:nvGrpSpPr>
          <p:cNvPr id="82" name="Google Shape;82;p16"/>
          <p:cNvGrpSpPr/>
          <p:nvPr/>
        </p:nvGrpSpPr>
        <p:grpSpPr>
          <a:xfrm>
            <a:off x="602675" y="3411575"/>
            <a:ext cx="8223600" cy="889600"/>
            <a:chOff x="238675" y="1353025"/>
            <a:chExt cx="8223600" cy="889600"/>
          </a:xfrm>
        </p:grpSpPr>
        <p:sp>
          <p:nvSpPr>
            <p:cNvPr id="83" name="Google Shape;83;p16"/>
            <p:cNvSpPr txBox="1"/>
            <p:nvPr/>
          </p:nvSpPr>
          <p:spPr>
            <a:xfrm>
              <a:off x="3260725" y="1353125"/>
              <a:ext cx="960300" cy="8895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Frozen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LLM 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Output: last hidden layer state</a:t>
              </a:r>
              <a:endParaRPr sz="1000">
                <a:solidFill>
                  <a:schemeClr val="dk1"/>
                </a:solidFill>
              </a:endParaRPr>
            </a:p>
          </p:txBody>
        </p:sp>
        <p:cxnSp>
          <p:nvCxnSpPr>
            <p:cNvPr id="84" name="Google Shape;84;p16"/>
            <p:cNvCxnSpPr>
              <a:stCxn id="85" idx="3"/>
              <a:endCxn id="83" idx="1"/>
            </p:cNvCxnSpPr>
            <p:nvPr/>
          </p:nvCxnSpPr>
          <p:spPr>
            <a:xfrm>
              <a:off x="3007425" y="1797775"/>
              <a:ext cx="253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6" name="Google Shape;86;p16"/>
            <p:cNvSpPr txBox="1"/>
            <p:nvPr/>
          </p:nvSpPr>
          <p:spPr>
            <a:xfrm>
              <a:off x="4474075" y="1353125"/>
              <a:ext cx="1094100" cy="8895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MLP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Output: modified last hidden layer state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5853475" y="1353025"/>
              <a:ext cx="1181100" cy="8895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LM Head from Frozen LM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Output: logits over next token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85" name="Google Shape;85;p16"/>
            <p:cNvSpPr txBox="1"/>
            <p:nvPr/>
          </p:nvSpPr>
          <p:spPr>
            <a:xfrm>
              <a:off x="238725" y="1353025"/>
              <a:ext cx="2768700" cy="8895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Current Prompt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ie: [BOS] + [Classification] + [prompt ids…]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88" name="Google Shape;88;p16"/>
            <p:cNvSpPr txBox="1"/>
            <p:nvPr/>
          </p:nvSpPr>
          <p:spPr>
            <a:xfrm>
              <a:off x="7319875" y="1353125"/>
              <a:ext cx="1142400" cy="8895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Top K sampling to choose next prompt token</a:t>
              </a:r>
              <a:endParaRPr sz="1000">
                <a:solidFill>
                  <a:schemeClr val="dk1"/>
                </a:solidFill>
              </a:endParaRPr>
            </a:p>
          </p:txBody>
        </p:sp>
        <p:cxnSp>
          <p:nvCxnSpPr>
            <p:cNvPr id="89" name="Google Shape;89;p16"/>
            <p:cNvCxnSpPr>
              <a:stCxn id="83" idx="3"/>
              <a:endCxn id="86" idx="1"/>
            </p:cNvCxnSpPr>
            <p:nvPr/>
          </p:nvCxnSpPr>
          <p:spPr>
            <a:xfrm>
              <a:off x="4221025" y="1797875"/>
              <a:ext cx="253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0" name="Google Shape;90;p16"/>
            <p:cNvCxnSpPr>
              <a:stCxn id="86" idx="3"/>
              <a:endCxn id="87" idx="1"/>
            </p:cNvCxnSpPr>
            <p:nvPr/>
          </p:nvCxnSpPr>
          <p:spPr>
            <a:xfrm>
              <a:off x="5568175" y="1797875"/>
              <a:ext cx="285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1" name="Google Shape;91;p16"/>
            <p:cNvCxnSpPr>
              <a:stCxn id="87" idx="3"/>
              <a:endCxn id="88" idx="1"/>
            </p:cNvCxnSpPr>
            <p:nvPr/>
          </p:nvCxnSpPr>
          <p:spPr>
            <a:xfrm>
              <a:off x="7034575" y="1797775"/>
              <a:ext cx="285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2" name="Google Shape;92;p16"/>
            <p:cNvCxnSpPr>
              <a:stCxn id="88" idx="3"/>
              <a:endCxn id="85" idx="1"/>
            </p:cNvCxnSpPr>
            <p:nvPr/>
          </p:nvCxnSpPr>
          <p:spPr>
            <a:xfrm flipH="1">
              <a:off x="238675" y="1797875"/>
              <a:ext cx="8223600" cy="600"/>
            </a:xfrm>
            <a:prstGeom prst="bentConnector5">
              <a:avLst>
                <a:gd fmla="val -1633" name="adj1"/>
                <a:gd fmla="val 113812500" name="adj2"/>
                <a:gd fmla="val 102895" name="adj3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Gap reward for classification (in RLPrompt)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Measures how much more likely the model thinks the correct class is compared to the best incorrect class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 =  class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Gap(c) = Prob(correct class) - max Prob(incorrect class)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Correct = 1[Gap (c) &gt; 0] (Bernoulli)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Reward =  λ_1^(1 - correct) * λ_2^(correct) * Gap(c)  |  λ_1 = 180, λ_2 = 200</a:t>
            </a:r>
            <a:endParaRPr sz="1400">
              <a:solidFill>
                <a:schemeClr val="dk1"/>
              </a:solidFill>
            </a:endParaRPr>
          </a:p>
        </p:txBody>
      </p:sp>
      <p:grpSp>
        <p:nvGrpSpPr>
          <p:cNvPr id="99" name="Google Shape;99;p17"/>
          <p:cNvGrpSpPr/>
          <p:nvPr/>
        </p:nvGrpSpPr>
        <p:grpSpPr>
          <a:xfrm>
            <a:off x="531850" y="2900013"/>
            <a:ext cx="8080300" cy="1961263"/>
            <a:chOff x="642100" y="2310013"/>
            <a:chExt cx="8080300" cy="1961263"/>
          </a:xfrm>
        </p:grpSpPr>
        <p:sp>
          <p:nvSpPr>
            <p:cNvPr id="100" name="Google Shape;100;p17"/>
            <p:cNvSpPr txBox="1"/>
            <p:nvPr/>
          </p:nvSpPr>
          <p:spPr>
            <a:xfrm>
              <a:off x="841900" y="2310013"/>
              <a:ext cx="24165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# questions = 16x per class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01" name="Google Shape;101;p17"/>
            <p:cNvSpPr txBox="1"/>
            <p:nvPr/>
          </p:nvSpPr>
          <p:spPr>
            <a:xfrm>
              <a:off x="3619800" y="3175275"/>
              <a:ext cx="2003700" cy="6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Reward LLM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Uses logits from the LM head to compute probability of each answer</a:t>
              </a:r>
              <a:endParaRPr sz="1000">
                <a:solidFill>
                  <a:schemeClr val="dk1"/>
                </a:solidFill>
              </a:endParaRPr>
            </a:p>
          </p:txBody>
        </p:sp>
        <p:cxnSp>
          <p:nvCxnSpPr>
            <p:cNvPr id="102" name="Google Shape;102;p17"/>
            <p:cNvCxnSpPr>
              <a:stCxn id="103" idx="3"/>
              <a:endCxn id="101" idx="1"/>
            </p:cNvCxnSpPr>
            <p:nvPr/>
          </p:nvCxnSpPr>
          <p:spPr>
            <a:xfrm>
              <a:off x="3258425" y="3036600"/>
              <a:ext cx="361500" cy="48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4" name="Google Shape;104;p17"/>
            <p:cNvSpPr txBox="1"/>
            <p:nvPr/>
          </p:nvSpPr>
          <p:spPr>
            <a:xfrm>
              <a:off x="5984900" y="2695200"/>
              <a:ext cx="1027500" cy="6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Gap Reward </a:t>
              </a:r>
              <a:r>
                <a:rPr lang="en" sz="1000">
                  <a:solidFill>
                    <a:schemeClr val="dk1"/>
                  </a:solidFill>
                </a:rPr>
                <a:t>(R_A_1)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103" name="Google Shape;103;p17"/>
            <p:cNvSpPr txBox="1"/>
            <p:nvPr/>
          </p:nvSpPr>
          <p:spPr>
            <a:xfrm>
              <a:off x="642125" y="2695200"/>
              <a:ext cx="2616300" cy="6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[BOS] + [Prompt A] + [</a:t>
              </a:r>
              <a:r>
                <a:rPr b="1" lang="en" sz="1000">
                  <a:solidFill>
                    <a:schemeClr val="dk1"/>
                  </a:solidFill>
                </a:rPr>
                <a:t>Question 1</a:t>
              </a:r>
              <a:r>
                <a:rPr lang="en" sz="1000">
                  <a:solidFill>
                    <a:schemeClr val="dk1"/>
                  </a:solidFill>
                </a:rPr>
                <a:t>]  + [Yes]</a:t>
              </a:r>
              <a:endParaRPr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[BOS] + [Prompt A] + [</a:t>
              </a:r>
              <a:r>
                <a:rPr b="1" lang="en" sz="1000">
                  <a:solidFill>
                    <a:schemeClr val="dk1"/>
                  </a:solidFill>
                </a:rPr>
                <a:t>Question 1</a:t>
              </a:r>
              <a:r>
                <a:rPr lang="en" sz="1000">
                  <a:solidFill>
                    <a:schemeClr val="dk1"/>
                  </a:solidFill>
                </a:rPr>
                <a:t>]  + [No]</a:t>
              </a:r>
              <a:endParaRPr sz="1000">
                <a:solidFill>
                  <a:schemeClr val="dk1"/>
                </a:solidFill>
              </a:endParaRPr>
            </a:p>
          </p:txBody>
        </p:sp>
        <p:cxnSp>
          <p:nvCxnSpPr>
            <p:cNvPr id="105" name="Google Shape;105;p17"/>
            <p:cNvCxnSpPr>
              <a:stCxn id="101" idx="3"/>
              <a:endCxn id="104" idx="1"/>
            </p:cNvCxnSpPr>
            <p:nvPr/>
          </p:nvCxnSpPr>
          <p:spPr>
            <a:xfrm flipH="1" rot="10800000">
              <a:off x="5623500" y="3036675"/>
              <a:ext cx="361500" cy="48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6" name="Google Shape;106;p17"/>
            <p:cNvCxnSpPr>
              <a:stCxn id="104" idx="3"/>
              <a:endCxn id="107" idx="1"/>
            </p:cNvCxnSpPr>
            <p:nvPr/>
          </p:nvCxnSpPr>
          <p:spPr>
            <a:xfrm>
              <a:off x="7012400" y="3036600"/>
              <a:ext cx="420600" cy="48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8" name="Google Shape;108;p17"/>
            <p:cNvSpPr txBox="1"/>
            <p:nvPr/>
          </p:nvSpPr>
          <p:spPr>
            <a:xfrm>
              <a:off x="642100" y="3588475"/>
              <a:ext cx="2616300" cy="6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[BOS] + [Prompt A] + [</a:t>
              </a:r>
              <a:r>
                <a:rPr b="1" lang="en" sz="1000">
                  <a:solidFill>
                    <a:schemeClr val="dk1"/>
                  </a:solidFill>
                </a:rPr>
                <a:t>Question 2</a:t>
              </a:r>
              <a:r>
                <a:rPr lang="en" sz="1000">
                  <a:solidFill>
                    <a:schemeClr val="dk1"/>
                  </a:solidFill>
                </a:rPr>
                <a:t>]  + [Yes]</a:t>
              </a:r>
              <a:endParaRPr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[BOS] + [Prompt A] + [</a:t>
              </a:r>
              <a:r>
                <a:rPr b="1" lang="en" sz="1000">
                  <a:solidFill>
                    <a:schemeClr val="dk1"/>
                  </a:solidFill>
                </a:rPr>
                <a:t>Question 2</a:t>
              </a:r>
              <a:r>
                <a:rPr lang="en" sz="1000">
                  <a:solidFill>
                    <a:schemeClr val="dk1"/>
                  </a:solidFill>
                </a:rPr>
                <a:t>]  + [No]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7433000" y="3175275"/>
              <a:ext cx="1289400" cy="6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Reward 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R(A) = (1/n)∑R_A_i 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109" name="Google Shape;109;p17"/>
            <p:cNvSpPr txBox="1"/>
            <p:nvPr/>
          </p:nvSpPr>
          <p:spPr>
            <a:xfrm>
              <a:off x="5984900" y="3588475"/>
              <a:ext cx="1027500" cy="6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Gap Reward </a:t>
              </a:r>
              <a:r>
                <a:rPr lang="en" sz="1000">
                  <a:solidFill>
                    <a:schemeClr val="dk1"/>
                  </a:solidFill>
                </a:rPr>
                <a:t>(R_A_2)</a:t>
              </a:r>
              <a:endParaRPr sz="1000">
                <a:solidFill>
                  <a:schemeClr val="dk1"/>
                </a:solidFill>
              </a:endParaRPr>
            </a:p>
          </p:txBody>
        </p:sp>
        <p:cxnSp>
          <p:nvCxnSpPr>
            <p:cNvPr id="110" name="Google Shape;110;p17"/>
            <p:cNvCxnSpPr>
              <a:endCxn id="101" idx="1"/>
            </p:cNvCxnSpPr>
            <p:nvPr/>
          </p:nvCxnSpPr>
          <p:spPr>
            <a:xfrm flipH="1" rot="10800000">
              <a:off x="3264900" y="3516675"/>
              <a:ext cx="354900" cy="43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1" name="Google Shape;111;p17"/>
            <p:cNvCxnSpPr>
              <a:stCxn id="101" idx="3"/>
              <a:endCxn id="109" idx="1"/>
            </p:cNvCxnSpPr>
            <p:nvPr/>
          </p:nvCxnSpPr>
          <p:spPr>
            <a:xfrm>
              <a:off x="5623500" y="3516675"/>
              <a:ext cx="361500" cy="41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2" name="Google Shape;112;p17"/>
            <p:cNvCxnSpPr>
              <a:stCxn id="109" idx="3"/>
              <a:endCxn id="107" idx="1"/>
            </p:cNvCxnSpPr>
            <p:nvPr/>
          </p:nvCxnSpPr>
          <p:spPr>
            <a:xfrm flipH="1" rot="10800000">
              <a:off x="7012400" y="3516775"/>
              <a:ext cx="420600" cy="41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Soft Q Learning (in RLPrompt)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One-to-one correspondence between LM logits f_θ(a∣s) and soft Q-values Q(s,a):</a:t>
            </a:r>
            <a:r>
              <a:rPr lang="en" sz="1400">
                <a:solidFill>
                  <a:schemeClr val="dk1"/>
                </a:solidFill>
              </a:rPr>
              <a:t> the logits over the vocabulary can be directly interpreted as Q-values for each action (token).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This allows RL to use the entire LM vocabulary as the action set</a:t>
            </a:r>
            <a:r>
              <a:rPr lang="en" sz="1400">
                <a:solidFill>
                  <a:schemeClr val="dk1"/>
                </a:solidFill>
              </a:rPr>
              <a:t>, updating all Q-values in parallel via the softmax, rather than updating only the sampled action as in standard Q-learning.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In Soft Q-Learning, the optimal policy is the Boltzmann (max-entropy) policy</a:t>
            </a:r>
            <a:r>
              <a:rPr lang="en" sz="1400">
                <a:solidFill>
                  <a:schemeClr val="dk1"/>
                </a:solidFill>
              </a:rPr>
              <a:t>: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π(a∣s)=exp⁡(Q(s,a))/ ∑a′exp⁡(Q(s,a′))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RLPROMPT uses only the on-policy component of SQL:</a:t>
            </a:r>
            <a:r>
              <a:rPr lang="en" sz="1400">
                <a:solidFill>
                  <a:schemeClr val="dk1"/>
                </a:solidFill>
              </a:rPr>
              <a:t> no multi-step path consistency; prompt generation is treated as a single-step MDP, which reduces the loss to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 L=(Q(z)− [R + 𝛾V(z)])^2, V(z) = ⍺ * log ∑e ^(Q(z, a) / ⍺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Datasets (16 examples per class)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BoolQ – yes/no reading comprehension dataset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GSM8K – grade-school mathematical reasoning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Reward functions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Log-Likelihood Reward (LL) </a:t>
            </a:r>
            <a:r>
              <a:rPr lang="en">
                <a:solidFill>
                  <a:schemeClr val="dk1"/>
                </a:solidFill>
              </a:rPr>
              <a:t>– </a:t>
            </a:r>
            <a:r>
              <a:rPr lang="en">
                <a:solidFill>
                  <a:schemeClr val="dk1"/>
                </a:solidFill>
              </a:rPr>
              <a:t>Mean log-likelihood of the correct answer sequence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Gap Reward (GAP) 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BoolQ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GSM8K: LL(correct answer) − max LL(negative answers)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Negative answers generated dynamically (k = 4)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RL Algorithms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Soft Q-Learning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GRPO-like Token-Level PPO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Batch-relative advantage normalization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Reference policy = snapshot of initial MLP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Cont’d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Prompt Policy Architecture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Base LLM frozen: distilgpt2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Learned module: PromptMLP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Hidden size → 2048 → hidden size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Prefix "Reasoning" inserted before learned tokens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Prompts are discrete tokens, sampled via top-k (k = 256)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Training Configuration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1,000 training steps per experiment (RLPrompt used ~10k steps)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Prompt length: 5 tokens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16 sampled prompts per step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Reward normalization: z-score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Results</a:t>
            </a:r>
            <a:endParaRPr/>
          </a:p>
        </p:txBody>
      </p:sp>
      <p:pic>
        <p:nvPicPr>
          <p:cNvPr id="136" name="Google Shape;136;p21" title="download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8839202" cy="31985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Results (every 10 steps)</a:t>
            </a:r>
            <a:endParaRPr/>
          </a:p>
        </p:txBody>
      </p:sp>
      <p:pic>
        <p:nvPicPr>
          <p:cNvPr id="142" name="Google Shape;142;p22" title="download (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3100" y="1017725"/>
            <a:ext cx="615844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Results</a:t>
            </a:r>
            <a:endParaRPr/>
          </a:p>
        </p:txBody>
      </p:sp>
      <p:pic>
        <p:nvPicPr>
          <p:cNvPr id="148" name="Google Shape;148;p23" title="Screenshot 2025-12-04 0716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0300" y="1017734"/>
            <a:ext cx="4503400" cy="18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 title="Screenshot 2025-12-04 0716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3350" y="3043575"/>
            <a:ext cx="4477291" cy="18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4"/>
          <p:cNvGrpSpPr/>
          <p:nvPr/>
        </p:nvGrpSpPr>
        <p:grpSpPr>
          <a:xfrm>
            <a:off x="620300" y="254225"/>
            <a:ext cx="8223600" cy="889600"/>
            <a:chOff x="238675" y="1353025"/>
            <a:chExt cx="8223600" cy="889600"/>
          </a:xfrm>
        </p:grpSpPr>
        <p:sp>
          <p:nvSpPr>
            <p:cNvPr id="155" name="Google Shape;155;p24"/>
            <p:cNvSpPr txBox="1"/>
            <p:nvPr/>
          </p:nvSpPr>
          <p:spPr>
            <a:xfrm>
              <a:off x="3260725" y="1353125"/>
              <a:ext cx="960300" cy="8895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Frozen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LLM 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Output: last hidden layer state</a:t>
              </a:r>
              <a:endParaRPr sz="1000">
                <a:solidFill>
                  <a:schemeClr val="dk1"/>
                </a:solidFill>
              </a:endParaRPr>
            </a:p>
          </p:txBody>
        </p:sp>
        <p:cxnSp>
          <p:nvCxnSpPr>
            <p:cNvPr id="156" name="Google Shape;156;p24"/>
            <p:cNvCxnSpPr>
              <a:stCxn id="157" idx="3"/>
              <a:endCxn id="155" idx="1"/>
            </p:cNvCxnSpPr>
            <p:nvPr/>
          </p:nvCxnSpPr>
          <p:spPr>
            <a:xfrm>
              <a:off x="3007425" y="1797775"/>
              <a:ext cx="253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8" name="Google Shape;158;p24"/>
            <p:cNvSpPr txBox="1"/>
            <p:nvPr/>
          </p:nvSpPr>
          <p:spPr>
            <a:xfrm>
              <a:off x="4474075" y="1353125"/>
              <a:ext cx="1094100" cy="8895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MLP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Output: modified last hidden layer state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159" name="Google Shape;159;p24"/>
            <p:cNvSpPr txBox="1"/>
            <p:nvPr/>
          </p:nvSpPr>
          <p:spPr>
            <a:xfrm>
              <a:off x="5853475" y="1353025"/>
              <a:ext cx="1181100" cy="8895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LM Head from Frozen LM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Output: logits over next token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157" name="Google Shape;157;p24"/>
            <p:cNvSpPr txBox="1"/>
            <p:nvPr/>
          </p:nvSpPr>
          <p:spPr>
            <a:xfrm>
              <a:off x="238725" y="1353025"/>
              <a:ext cx="2768700" cy="8895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Current Prompt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ie: [BOS] + [Classification] + [prompt ids…]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160" name="Google Shape;160;p24"/>
            <p:cNvSpPr txBox="1"/>
            <p:nvPr/>
          </p:nvSpPr>
          <p:spPr>
            <a:xfrm>
              <a:off x="7319875" y="1353125"/>
              <a:ext cx="1142400" cy="8895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Top K sampling to choose next prompt token</a:t>
              </a:r>
              <a:endParaRPr sz="1000">
                <a:solidFill>
                  <a:schemeClr val="dk1"/>
                </a:solidFill>
              </a:endParaRPr>
            </a:p>
          </p:txBody>
        </p:sp>
        <p:cxnSp>
          <p:nvCxnSpPr>
            <p:cNvPr id="161" name="Google Shape;161;p24"/>
            <p:cNvCxnSpPr>
              <a:stCxn id="155" idx="3"/>
              <a:endCxn id="158" idx="1"/>
            </p:cNvCxnSpPr>
            <p:nvPr/>
          </p:nvCxnSpPr>
          <p:spPr>
            <a:xfrm>
              <a:off x="4221025" y="1797875"/>
              <a:ext cx="253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2" name="Google Shape;162;p24"/>
            <p:cNvCxnSpPr>
              <a:stCxn id="158" idx="3"/>
              <a:endCxn id="159" idx="1"/>
            </p:cNvCxnSpPr>
            <p:nvPr/>
          </p:nvCxnSpPr>
          <p:spPr>
            <a:xfrm>
              <a:off x="5568175" y="1797875"/>
              <a:ext cx="285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3" name="Google Shape;163;p24"/>
            <p:cNvCxnSpPr>
              <a:stCxn id="159" idx="3"/>
              <a:endCxn id="160" idx="1"/>
            </p:cNvCxnSpPr>
            <p:nvPr/>
          </p:nvCxnSpPr>
          <p:spPr>
            <a:xfrm>
              <a:off x="7034575" y="1797775"/>
              <a:ext cx="2853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4" name="Google Shape;164;p24"/>
            <p:cNvCxnSpPr>
              <a:stCxn id="160" idx="3"/>
              <a:endCxn id="157" idx="1"/>
            </p:cNvCxnSpPr>
            <p:nvPr/>
          </p:nvCxnSpPr>
          <p:spPr>
            <a:xfrm flipH="1">
              <a:off x="238675" y="1797875"/>
              <a:ext cx="8223600" cy="600"/>
            </a:xfrm>
            <a:prstGeom prst="bentConnector5">
              <a:avLst>
                <a:gd fmla="val -2896" name="adj1"/>
                <a:gd fmla="val 113812500" name="adj2"/>
                <a:gd fmla="val 102895" name="adj3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65" name="Google Shape;165;p24"/>
          <p:cNvGrpSpPr/>
          <p:nvPr/>
        </p:nvGrpSpPr>
        <p:grpSpPr>
          <a:xfrm>
            <a:off x="642100" y="2310013"/>
            <a:ext cx="8080300" cy="1961263"/>
            <a:chOff x="642100" y="2310013"/>
            <a:chExt cx="8080300" cy="1961263"/>
          </a:xfrm>
        </p:grpSpPr>
        <p:sp>
          <p:nvSpPr>
            <p:cNvPr id="166" name="Google Shape;166;p24"/>
            <p:cNvSpPr txBox="1"/>
            <p:nvPr/>
          </p:nvSpPr>
          <p:spPr>
            <a:xfrm>
              <a:off x="841900" y="2310013"/>
              <a:ext cx="24165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# questions = 16x per class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67" name="Google Shape;167;p24"/>
            <p:cNvSpPr txBox="1"/>
            <p:nvPr/>
          </p:nvSpPr>
          <p:spPr>
            <a:xfrm>
              <a:off x="3619800" y="3175275"/>
              <a:ext cx="2003700" cy="6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Reward LLM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Uses logits from the LM head to compute probability of each answer</a:t>
              </a:r>
              <a:endParaRPr sz="1000">
                <a:solidFill>
                  <a:schemeClr val="dk1"/>
                </a:solidFill>
              </a:endParaRPr>
            </a:p>
          </p:txBody>
        </p:sp>
        <p:cxnSp>
          <p:nvCxnSpPr>
            <p:cNvPr id="168" name="Google Shape;168;p24"/>
            <p:cNvCxnSpPr>
              <a:stCxn id="169" idx="3"/>
              <a:endCxn id="167" idx="1"/>
            </p:cNvCxnSpPr>
            <p:nvPr/>
          </p:nvCxnSpPr>
          <p:spPr>
            <a:xfrm>
              <a:off x="3258425" y="3036600"/>
              <a:ext cx="361500" cy="48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0" name="Google Shape;170;p24"/>
            <p:cNvSpPr txBox="1"/>
            <p:nvPr/>
          </p:nvSpPr>
          <p:spPr>
            <a:xfrm>
              <a:off x="5984900" y="2695200"/>
              <a:ext cx="1027500" cy="6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Gap Reward </a:t>
              </a:r>
              <a:r>
                <a:rPr lang="en" sz="1000">
                  <a:solidFill>
                    <a:schemeClr val="dk1"/>
                  </a:solidFill>
                </a:rPr>
                <a:t>(R_A_1)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169" name="Google Shape;169;p24"/>
            <p:cNvSpPr txBox="1"/>
            <p:nvPr/>
          </p:nvSpPr>
          <p:spPr>
            <a:xfrm>
              <a:off x="642125" y="2695200"/>
              <a:ext cx="2616300" cy="6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[BOS] + [Prompt A] + [</a:t>
              </a:r>
              <a:r>
                <a:rPr b="1" lang="en" sz="1000">
                  <a:solidFill>
                    <a:schemeClr val="dk1"/>
                  </a:solidFill>
                </a:rPr>
                <a:t>Question 1</a:t>
              </a:r>
              <a:r>
                <a:rPr lang="en" sz="1000">
                  <a:solidFill>
                    <a:schemeClr val="dk1"/>
                  </a:solidFill>
                </a:rPr>
                <a:t>]  + [Yes]</a:t>
              </a:r>
              <a:endParaRPr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[BOS] + [Prompt A] + [</a:t>
              </a:r>
              <a:r>
                <a:rPr b="1" lang="en" sz="1000">
                  <a:solidFill>
                    <a:schemeClr val="dk1"/>
                  </a:solidFill>
                </a:rPr>
                <a:t>Question 1</a:t>
              </a:r>
              <a:r>
                <a:rPr lang="en" sz="1000">
                  <a:solidFill>
                    <a:schemeClr val="dk1"/>
                  </a:solidFill>
                </a:rPr>
                <a:t>]  + [No]</a:t>
              </a:r>
              <a:endParaRPr sz="1000">
                <a:solidFill>
                  <a:schemeClr val="dk1"/>
                </a:solidFill>
              </a:endParaRPr>
            </a:p>
          </p:txBody>
        </p:sp>
        <p:cxnSp>
          <p:nvCxnSpPr>
            <p:cNvPr id="171" name="Google Shape;171;p24"/>
            <p:cNvCxnSpPr>
              <a:stCxn id="167" idx="3"/>
              <a:endCxn id="170" idx="1"/>
            </p:cNvCxnSpPr>
            <p:nvPr/>
          </p:nvCxnSpPr>
          <p:spPr>
            <a:xfrm flipH="1" rot="10800000">
              <a:off x="5623500" y="3036675"/>
              <a:ext cx="361500" cy="48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2" name="Google Shape;172;p24"/>
            <p:cNvCxnSpPr>
              <a:stCxn id="170" idx="3"/>
              <a:endCxn id="173" idx="1"/>
            </p:cNvCxnSpPr>
            <p:nvPr/>
          </p:nvCxnSpPr>
          <p:spPr>
            <a:xfrm>
              <a:off x="7012400" y="3036600"/>
              <a:ext cx="420600" cy="48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" name="Google Shape;174;p24"/>
            <p:cNvSpPr txBox="1"/>
            <p:nvPr/>
          </p:nvSpPr>
          <p:spPr>
            <a:xfrm>
              <a:off x="642100" y="3588475"/>
              <a:ext cx="2616300" cy="6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[BOS] + [Prompt A] + [</a:t>
              </a:r>
              <a:r>
                <a:rPr b="1" lang="en" sz="1000">
                  <a:solidFill>
                    <a:schemeClr val="dk1"/>
                  </a:solidFill>
                </a:rPr>
                <a:t>Question 2</a:t>
              </a:r>
              <a:r>
                <a:rPr lang="en" sz="1000">
                  <a:solidFill>
                    <a:schemeClr val="dk1"/>
                  </a:solidFill>
                </a:rPr>
                <a:t>]  + [Yes]</a:t>
              </a:r>
              <a:endParaRPr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[BOS] + [Prompt A] + [</a:t>
              </a:r>
              <a:r>
                <a:rPr b="1" lang="en" sz="1000">
                  <a:solidFill>
                    <a:schemeClr val="dk1"/>
                  </a:solidFill>
                </a:rPr>
                <a:t>Question 2</a:t>
              </a:r>
              <a:r>
                <a:rPr lang="en" sz="1000">
                  <a:solidFill>
                    <a:schemeClr val="dk1"/>
                  </a:solidFill>
                </a:rPr>
                <a:t>]  + [No]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173" name="Google Shape;173;p24"/>
            <p:cNvSpPr txBox="1"/>
            <p:nvPr/>
          </p:nvSpPr>
          <p:spPr>
            <a:xfrm>
              <a:off x="7433000" y="3175275"/>
              <a:ext cx="1289400" cy="6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Reward 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R(A) = (1/n)∑R_A_i </a:t>
              </a:r>
              <a:endParaRPr sz="1000">
                <a:solidFill>
                  <a:schemeClr val="dk1"/>
                </a:solidFill>
              </a:endParaRPr>
            </a:p>
          </p:txBody>
        </p:sp>
        <p:sp>
          <p:nvSpPr>
            <p:cNvPr id="175" name="Google Shape;175;p24"/>
            <p:cNvSpPr txBox="1"/>
            <p:nvPr/>
          </p:nvSpPr>
          <p:spPr>
            <a:xfrm>
              <a:off x="5984900" y="3588475"/>
              <a:ext cx="1027500" cy="6828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Gap Reward </a:t>
              </a:r>
              <a:r>
                <a:rPr lang="en" sz="1000">
                  <a:solidFill>
                    <a:schemeClr val="dk1"/>
                  </a:solidFill>
                </a:rPr>
                <a:t>(R_A_2)</a:t>
              </a:r>
              <a:endParaRPr sz="1000">
                <a:solidFill>
                  <a:schemeClr val="dk1"/>
                </a:solidFill>
              </a:endParaRPr>
            </a:p>
          </p:txBody>
        </p:sp>
        <p:cxnSp>
          <p:nvCxnSpPr>
            <p:cNvPr id="176" name="Google Shape;176;p24"/>
            <p:cNvCxnSpPr>
              <a:endCxn id="167" idx="1"/>
            </p:cNvCxnSpPr>
            <p:nvPr/>
          </p:nvCxnSpPr>
          <p:spPr>
            <a:xfrm flipH="1" rot="10800000">
              <a:off x="3264900" y="3516675"/>
              <a:ext cx="354900" cy="43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" name="Google Shape;177;p24"/>
            <p:cNvCxnSpPr>
              <a:stCxn id="167" idx="3"/>
              <a:endCxn id="175" idx="1"/>
            </p:cNvCxnSpPr>
            <p:nvPr/>
          </p:nvCxnSpPr>
          <p:spPr>
            <a:xfrm>
              <a:off x="5623500" y="3516675"/>
              <a:ext cx="361500" cy="41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" name="Google Shape;178;p24"/>
            <p:cNvCxnSpPr>
              <a:stCxn id="175" idx="3"/>
              <a:endCxn id="173" idx="1"/>
            </p:cNvCxnSpPr>
            <p:nvPr/>
          </p:nvCxnSpPr>
          <p:spPr>
            <a:xfrm flipH="1" rot="10800000">
              <a:off x="7012400" y="3516775"/>
              <a:ext cx="420600" cy="413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25"/>
          <p:cNvGrpSpPr/>
          <p:nvPr/>
        </p:nvGrpSpPr>
        <p:grpSpPr>
          <a:xfrm>
            <a:off x="1562800" y="638525"/>
            <a:ext cx="2945825" cy="335100"/>
            <a:chOff x="1562800" y="638525"/>
            <a:chExt cx="2945825" cy="335100"/>
          </a:xfrm>
        </p:grpSpPr>
        <p:sp>
          <p:nvSpPr>
            <p:cNvPr id="184" name="Google Shape;184;p25"/>
            <p:cNvSpPr txBox="1"/>
            <p:nvPr/>
          </p:nvSpPr>
          <p:spPr>
            <a:xfrm>
              <a:off x="1562800" y="638525"/>
              <a:ext cx="828900" cy="3351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Token 1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85" name="Google Shape;185;p25"/>
            <p:cNvSpPr txBox="1"/>
            <p:nvPr/>
          </p:nvSpPr>
          <p:spPr>
            <a:xfrm>
              <a:off x="2391825" y="638525"/>
              <a:ext cx="1058400" cy="3351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Token 2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86" name="Google Shape;186;p25"/>
            <p:cNvSpPr txBox="1"/>
            <p:nvPr/>
          </p:nvSpPr>
          <p:spPr>
            <a:xfrm>
              <a:off x="3450225" y="638525"/>
              <a:ext cx="1058400" cy="335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Prompt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grpSp>
        <p:nvGrpSpPr>
          <p:cNvPr id="187" name="Google Shape;187;p25"/>
          <p:cNvGrpSpPr/>
          <p:nvPr/>
        </p:nvGrpSpPr>
        <p:grpSpPr>
          <a:xfrm>
            <a:off x="1318425" y="1231900"/>
            <a:ext cx="3545100" cy="335100"/>
            <a:chOff x="1247875" y="1664050"/>
            <a:chExt cx="3545100" cy="335100"/>
          </a:xfrm>
        </p:grpSpPr>
        <p:sp>
          <p:nvSpPr>
            <p:cNvPr id="188" name="Google Shape;188;p25"/>
            <p:cNvSpPr txBox="1"/>
            <p:nvPr/>
          </p:nvSpPr>
          <p:spPr>
            <a:xfrm>
              <a:off x="1247875" y="1664050"/>
              <a:ext cx="1181700" cy="3351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Embedding 1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89" name="Google Shape;189;p25"/>
            <p:cNvSpPr txBox="1"/>
            <p:nvPr/>
          </p:nvSpPr>
          <p:spPr>
            <a:xfrm>
              <a:off x="2429575" y="1664050"/>
              <a:ext cx="1181700" cy="3351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Embedding 2</a:t>
              </a:r>
              <a:endParaRPr sz="1200">
                <a:solidFill>
                  <a:schemeClr val="dk1"/>
                </a:solidFill>
              </a:endParaRPr>
            </a:p>
          </p:txBody>
        </p:sp>
        <p:sp>
          <p:nvSpPr>
            <p:cNvPr id="190" name="Google Shape;190;p25"/>
            <p:cNvSpPr txBox="1"/>
            <p:nvPr/>
          </p:nvSpPr>
          <p:spPr>
            <a:xfrm>
              <a:off x="3611275" y="1664050"/>
              <a:ext cx="1181700" cy="335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Prompt</a:t>
              </a:r>
              <a:endParaRPr sz="12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